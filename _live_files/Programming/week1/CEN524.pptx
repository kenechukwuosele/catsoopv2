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28"/>
  </p:notesMasterIdLst>
  <p:sldIdLst>
    <p:sldId id="279" r:id="rId3"/>
    <p:sldId id="257" r:id="rId4"/>
    <p:sldId id="258" r:id="rId5"/>
    <p:sldId id="259" r:id="rId6"/>
    <p:sldId id="281" r:id="rId7"/>
    <p:sldId id="280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4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1767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9D498802-2017-4E9A-A8AF-781802F703C5}" type="slidenum">
              <a:rPr lang="en-GB" smtClean="0">
                <a:solidFill>
                  <a:prstClr val="black"/>
                </a:solidFill>
              </a:rPr>
              <a:pPr/>
              <a:t>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637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Ours\Desktop\flash\c.u..jpg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800080">
                <a:alpha val="78824"/>
                <a:tint val="45000"/>
                <a:satMod val="400000"/>
              </a:srgbClr>
            </a:duotone>
          </a:blip>
          <a:srcRect t="-169" b="15477"/>
          <a:stretch>
            <a:fillRect/>
          </a:stretch>
        </p:blipFill>
        <p:spPr bwMode="auto">
          <a:xfrm>
            <a:off x="1" y="-41076"/>
            <a:ext cx="9209063" cy="5184576"/>
          </a:xfrm>
          <a:prstGeom prst="rect">
            <a:avLst/>
          </a:prstGeom>
          <a:noFill/>
        </p:spPr>
      </p:pic>
      <p:pic>
        <p:nvPicPr>
          <p:cNvPr id="8" name="Picture 2" descr="C:\Users\Ours\Desktop\my stuffs\1 NTFS_000\LostFiles2\INSPIRATION\PROJECTS\MIND PROJECTS\cu_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0588" y="427625"/>
            <a:ext cx="557444" cy="594066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6750699" y="0"/>
            <a:ext cx="2442592" cy="299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49" dirty="0">
                <a:solidFill>
                  <a:prstClr val="black"/>
                </a:solidFill>
              </a:rPr>
              <a:t>www.covenantuniversity.edu.ng</a:t>
            </a:r>
            <a:endParaRPr lang="en-GB" sz="1349" dirty="0">
              <a:solidFill>
                <a:prstClr val="black"/>
              </a:solidFill>
            </a:endParaRPr>
          </a:p>
        </p:txBody>
      </p:sp>
      <p:pic>
        <p:nvPicPr>
          <p:cNvPr id="10" name="Picture 2" descr="C:\Users\Ours\Desktop\Picture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8532" y="427627"/>
            <a:ext cx="3455484" cy="55783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624" y="1383622"/>
            <a:ext cx="7772757" cy="1836203"/>
          </a:xfrm>
          <a:prstGeom prst="rect">
            <a:avLst/>
          </a:prstGeom>
          <a:solidFill>
            <a:srgbClr val="660033">
              <a:alpha val="61961"/>
            </a:srgbClr>
          </a:solidFill>
        </p:spPr>
        <p:txBody>
          <a:bodyPr>
            <a:noAutofit/>
          </a:bodyPr>
          <a:lstStyle>
            <a:lvl1pPr>
              <a:defRPr sz="4049" b="0">
                <a:solidFill>
                  <a:schemeClr val="bg1"/>
                </a:solidFill>
                <a:latin typeface="Rockwell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243" y="3381840"/>
            <a:ext cx="6401514" cy="1314450"/>
          </a:xfrm>
          <a:prstGeom prst="rect">
            <a:avLst/>
          </a:prstGeom>
          <a:solidFill>
            <a:srgbClr val="FFFFFF">
              <a:alpha val="74118"/>
            </a:srgbClr>
          </a:solidFill>
        </p:spPr>
        <p:txBody>
          <a:bodyPr>
            <a:normAutofit/>
          </a:bodyPr>
          <a:lstStyle>
            <a:lvl1pPr marL="0" indent="0" algn="ctr">
              <a:buNone/>
              <a:defRPr sz="2699">
                <a:solidFill>
                  <a:schemeClr val="tx1"/>
                </a:solidFill>
                <a:latin typeface="Rockwell" pitchFamily="18" charset="0"/>
              </a:defRPr>
            </a:lvl1pPr>
            <a:lvl2pPr marL="3427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5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3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1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3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6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995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 dirty="0"/>
          </a:p>
        </p:txBody>
      </p:sp>
      <p:sp>
        <p:nvSpPr>
          <p:cNvPr id="11" name="TextBox 10"/>
          <p:cNvSpPr txBox="1"/>
          <p:nvPr/>
        </p:nvSpPr>
        <p:spPr>
          <a:xfrm>
            <a:off x="1224501" y="805667"/>
            <a:ext cx="24561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662C5B"/>
                </a:solidFill>
              </a:rPr>
              <a:t>Raising a new Generation of Leaders</a:t>
            </a:r>
            <a:endParaRPr lang="en-GB" sz="1200" dirty="0">
              <a:solidFill>
                <a:srgbClr val="662C5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931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628" y="114858"/>
            <a:ext cx="8783372" cy="836712"/>
          </a:xfrm>
          <a:solidFill>
            <a:schemeClr val="bg1"/>
          </a:solidFill>
          <a:ln w="57150">
            <a:noFill/>
          </a:ln>
        </p:spPr>
        <p:txBody>
          <a:bodyPr>
            <a:normAutofit/>
          </a:bodyPr>
          <a:lstStyle>
            <a:lvl1pPr algn="l">
              <a:defRPr sz="4049" b="1">
                <a:solidFill>
                  <a:schemeClr val="tx1">
                    <a:lumMod val="95000"/>
                    <a:lumOff val="5000"/>
                  </a:schemeClr>
                </a:solidFill>
                <a:latin typeface="Rockwell Condensed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2E69B-9B3B-437C-9ADF-D56F423A0581}" type="datetimeFigureOut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25/05/2026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2" descr="C:\Users\Ours\Desktop\flash\c.u..jpg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rgbClr val="800080">
                <a:alpha val="78824"/>
                <a:tint val="45000"/>
                <a:satMod val="400000"/>
              </a:srgbClr>
            </a:duotone>
          </a:blip>
          <a:srcRect t="41294" b="49226"/>
          <a:stretch>
            <a:fillRect/>
          </a:stretch>
        </p:blipFill>
        <p:spPr bwMode="auto">
          <a:xfrm>
            <a:off x="1" y="4731990"/>
            <a:ext cx="9209063" cy="580314"/>
          </a:xfrm>
          <a:prstGeom prst="rect">
            <a:avLst/>
          </a:prstGeom>
          <a:noFill/>
        </p:spPr>
      </p:pic>
      <p:sp>
        <p:nvSpPr>
          <p:cNvPr id="8" name="Slide Number Placeholder 5"/>
          <p:cNvSpPr txBox="1">
            <a:spLocks/>
          </p:cNvSpPr>
          <p:nvPr/>
        </p:nvSpPr>
        <p:spPr>
          <a:xfrm>
            <a:off x="8081478" y="4752528"/>
            <a:ext cx="783808" cy="411510"/>
          </a:xfrm>
          <a:prstGeom prst="rect">
            <a:avLst/>
          </a:prstGeom>
          <a:solidFill>
            <a:srgbClr val="F7F7F7">
              <a:alpha val="45098"/>
            </a:srgbClr>
          </a:solidFill>
        </p:spPr>
        <p:txBody>
          <a:bodyPr vert="horz" lIns="68562" tIns="34281" rIns="68562" bIns="34281" rtlCol="0" anchor="ctr"/>
          <a:lstStyle>
            <a:lvl1pPr>
              <a:defRPr sz="1400" b="1">
                <a:solidFill>
                  <a:schemeClr val="tx1">
                    <a:lumMod val="95000"/>
                    <a:lumOff val="5000"/>
                  </a:schemeClr>
                </a:solidFill>
                <a:latin typeface="Georgia" pitchFamily="18" charset="0"/>
              </a:defRPr>
            </a:lvl1pPr>
          </a:lstStyle>
          <a:p>
            <a:pPr algn="r">
              <a:defRPr/>
            </a:pPr>
            <a:fld id="{5FE708FE-ED12-4ACB-81C9-F40A112777FF}" type="slidenum">
              <a:rPr lang="en-GB" sz="2099" smtClean="0">
                <a:solidFill>
                  <a:prstClr val="white"/>
                </a:solidFill>
              </a:rPr>
              <a:pPr algn="r">
                <a:defRPr/>
              </a:pPr>
              <a:t>‹#›</a:t>
            </a:fld>
            <a:endParaRPr lang="en-GB" sz="2099" dirty="0">
              <a:solidFill>
                <a:prstClr val="white"/>
              </a:solidFill>
            </a:endParaRPr>
          </a:p>
        </p:txBody>
      </p:sp>
      <p:pic>
        <p:nvPicPr>
          <p:cNvPr id="10" name="Picture 2" descr="C:\Users\Ours\Desktop\my stuffs\1 NTFS_000\LostFiles2\INSPIRATION\PROJECTS\MIND PROJECTS\cu_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84" y="4772650"/>
            <a:ext cx="468612" cy="49940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059582"/>
            <a:ext cx="8784977" cy="3618402"/>
          </a:xfrm>
          <a:solidFill>
            <a:schemeClr val="bg1"/>
          </a:solidFill>
          <a:ln>
            <a:noFill/>
          </a:ln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defRPr sz="2999">
                <a:latin typeface="Rockwell" pitchFamily="18" charset="0"/>
              </a:defRPr>
            </a:lvl1pPr>
            <a:lvl2pPr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Font typeface="Wingdings" pitchFamily="2" charset="2"/>
              <a:buChar char="§"/>
              <a:defRPr sz="2699">
                <a:solidFill>
                  <a:srgbClr val="7A0000"/>
                </a:solidFill>
                <a:latin typeface="Rockwell" pitchFamily="18" charset="0"/>
              </a:defRPr>
            </a:lvl2pPr>
            <a:lvl3pPr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Font typeface="Calibri" pitchFamily="34" charset="0"/>
              <a:buChar char="‒"/>
              <a:defRPr sz="2399">
                <a:solidFill>
                  <a:schemeClr val="accent4">
                    <a:lumMod val="50000"/>
                  </a:schemeClr>
                </a:solidFill>
                <a:latin typeface="Rockwell" pitchFamily="18" charset="0"/>
              </a:defRPr>
            </a:lvl3pPr>
            <a:lvl4pPr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buFont typeface="Arial" pitchFamily="34" charset="0"/>
              <a:buChar char="•"/>
              <a:defRPr sz="2099">
                <a:latin typeface="Rockwell" pitchFamily="18" charset="0"/>
              </a:defRPr>
            </a:lvl4pPr>
            <a:lvl5pPr>
              <a:lnSpc>
                <a:spcPct val="100000"/>
              </a:lnSpc>
              <a:spcBef>
                <a:spcPts val="375"/>
              </a:spcBef>
              <a:spcAft>
                <a:spcPts val="375"/>
              </a:spcAft>
              <a:defRPr sz="2099">
                <a:latin typeface="Rockwell" pitchFamily="18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pic>
        <p:nvPicPr>
          <p:cNvPr id="1026" name="Picture 2" descr="C:\Users\Ours\Desktop\Picture1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4622" y="4737996"/>
            <a:ext cx="4481332" cy="480048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542878" y="5030577"/>
            <a:ext cx="170912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prstClr val="black"/>
                </a:solidFill>
              </a:rPr>
              <a:t>www.covenantuniversity.edu.ng</a:t>
            </a:r>
            <a:endParaRPr lang="en-GB" sz="900" dirty="0">
              <a:solidFill>
                <a:prstClr val="black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6515711" y="1005576"/>
            <a:ext cx="1349649" cy="0"/>
          </a:xfrm>
          <a:prstGeom prst="line">
            <a:avLst/>
          </a:prstGeom>
          <a:ln w="28575">
            <a:solidFill>
              <a:srgbClr val="662C5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7892491" y="1005576"/>
            <a:ext cx="539859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8459481" y="1005576"/>
            <a:ext cx="539859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493112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7217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5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2" y="4767267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1E5DC-3B03-46CA-AC85-0A15CE00A315}" type="datetimeFigureOut">
              <a:rPr lang="en-GB" smtClean="0"/>
              <a:t>25/05/2026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A224E-3E83-4E35-9AC8-5BC57383ED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025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685595" rtl="0" eaLnBrk="1" latinLnBrk="0" hangingPunct="1">
        <a:spcBef>
          <a:spcPct val="0"/>
        </a:spcBef>
        <a:buNone/>
        <a:defRPr sz="32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098" indent="-257098" algn="l" defTabSz="685595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557045" indent="-214248" algn="l" defTabSz="685595" rtl="0" eaLnBrk="1" latinLnBrk="0" hangingPunct="1">
        <a:spcBef>
          <a:spcPct val="20000"/>
        </a:spcBef>
        <a:buFont typeface="Arial" pitchFamily="34" charset="0"/>
        <a:buChar char="–"/>
        <a:defRPr sz="2099" kern="1200">
          <a:solidFill>
            <a:schemeClr val="tx1"/>
          </a:solidFill>
          <a:latin typeface="+mn-lt"/>
          <a:ea typeface="+mn-ea"/>
          <a:cs typeface="+mn-cs"/>
        </a:defRPr>
      </a:lvl2pPr>
      <a:lvl3pPr marL="856993" indent="-171398" algn="l" defTabSz="685595" rtl="0" eaLnBrk="1" latinLnBrk="0" hangingPunct="1">
        <a:spcBef>
          <a:spcPct val="20000"/>
        </a:spcBef>
        <a:buFont typeface="Arial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199790" indent="-171398" algn="l" defTabSz="685595" rtl="0" eaLnBrk="1" latinLnBrk="0" hangingPunct="1">
        <a:spcBef>
          <a:spcPct val="20000"/>
        </a:spcBef>
        <a:buFont typeface="Arial" pitchFamily="34" charset="0"/>
        <a:buChar char="–"/>
        <a:defRPr sz="1499" kern="1200">
          <a:solidFill>
            <a:schemeClr val="tx1"/>
          </a:solidFill>
          <a:latin typeface="+mn-lt"/>
          <a:ea typeface="+mn-ea"/>
          <a:cs typeface="+mn-cs"/>
        </a:defRPr>
      </a:lvl4pPr>
      <a:lvl5pPr marL="1542587" indent="-171398" algn="l" defTabSz="685595" rtl="0" eaLnBrk="1" latinLnBrk="0" hangingPunct="1">
        <a:spcBef>
          <a:spcPct val="20000"/>
        </a:spcBef>
        <a:buFont typeface="Arial" pitchFamily="34" charset="0"/>
        <a:buChar char="»"/>
        <a:defRPr sz="1499" kern="1200">
          <a:solidFill>
            <a:schemeClr val="tx1"/>
          </a:solidFill>
          <a:latin typeface="+mn-lt"/>
          <a:ea typeface="+mn-ea"/>
          <a:cs typeface="+mn-cs"/>
        </a:defRPr>
      </a:lvl5pPr>
      <a:lvl6pPr marL="1885385" indent="-171398" algn="l" defTabSz="685595" rtl="0" eaLnBrk="1" latinLnBrk="0" hangingPunct="1">
        <a:spcBef>
          <a:spcPct val="20000"/>
        </a:spcBef>
        <a:buFont typeface="Arial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6pPr>
      <a:lvl7pPr marL="2228181" indent="-171398" algn="l" defTabSz="685595" rtl="0" eaLnBrk="1" latinLnBrk="0" hangingPunct="1">
        <a:spcBef>
          <a:spcPct val="20000"/>
        </a:spcBef>
        <a:buFont typeface="Arial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7pPr>
      <a:lvl8pPr marL="2570978" indent="-171398" algn="l" defTabSz="685595" rtl="0" eaLnBrk="1" latinLnBrk="0" hangingPunct="1">
        <a:spcBef>
          <a:spcPct val="20000"/>
        </a:spcBef>
        <a:buFont typeface="Arial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8pPr>
      <a:lvl9pPr marL="2913776" indent="-171398" algn="l" defTabSz="685595" rtl="0" eaLnBrk="1" latinLnBrk="0" hangingPunct="1">
        <a:spcBef>
          <a:spcPct val="20000"/>
        </a:spcBef>
        <a:buFont typeface="Arial" pitchFamily="34" charset="0"/>
        <a:buChar char="•"/>
        <a:defRPr sz="14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595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1pPr>
      <a:lvl2pPr marL="342797" algn="l" defTabSz="685595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2pPr>
      <a:lvl3pPr marL="685595" algn="l" defTabSz="685595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3pPr>
      <a:lvl4pPr marL="1028392" algn="l" defTabSz="685595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4pPr>
      <a:lvl5pPr marL="1371188" algn="l" defTabSz="685595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5pPr>
      <a:lvl6pPr marL="1713986" algn="l" defTabSz="685595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6pPr>
      <a:lvl7pPr marL="2056783" algn="l" defTabSz="685595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7pPr>
      <a:lvl8pPr marL="2399580" algn="l" defTabSz="685595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8pPr>
      <a:lvl9pPr marL="2742377" algn="l" defTabSz="685595" rtl="0" eaLnBrk="1" latinLnBrk="0" hangingPunct="1">
        <a:defRPr sz="134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685624" y="1033976"/>
            <a:ext cx="7772757" cy="1848238"/>
          </a:xfrm>
        </p:spPr>
        <p:txBody>
          <a:bodyPr>
            <a:normAutofit fontScale="90000"/>
          </a:bodyPr>
          <a:lstStyle/>
          <a:p>
            <a:r>
              <a:rPr lang="en-GB" sz="40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CEN524: RECURRENT NEURAL NETWORKS &amp; LSTMS</a:t>
            </a:r>
            <a:r>
              <a:rPr lang="en-GB" sz="3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GB" sz="3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GB" sz="1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624" y="2882214"/>
            <a:ext cx="7772757" cy="1359196"/>
          </a:xfrm>
        </p:spPr>
        <p:txBody>
          <a:bodyPr>
            <a:normAutofit fontScale="40000" lnSpcReduction="20000"/>
          </a:bodyPr>
          <a:lstStyle/>
          <a:p>
            <a:r>
              <a:rPr lang="en-GB" sz="33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 </a:t>
            </a:r>
            <a:endParaRPr lang="en-GB" sz="3075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525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Omoruyi O., </a:t>
            </a:r>
            <a:r>
              <a:rPr lang="en-GB" sz="525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Olatimehin</a:t>
            </a:r>
            <a:r>
              <a:rPr lang="en-GB" sz="525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O. and </a:t>
            </a:r>
            <a:r>
              <a:rPr lang="en-GB" sz="525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Ajilore</a:t>
            </a:r>
            <a:r>
              <a:rPr lang="en-GB" sz="525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A.</a:t>
            </a:r>
          </a:p>
          <a:p>
            <a:r>
              <a:rPr lang="en-GB" sz="525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 </a:t>
            </a:r>
            <a:r>
              <a:rPr lang="en-GB" sz="525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endParaRPr lang="en-GB" sz="525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n-GB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2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6"/>
          <p:cNvSpPr txBox="1">
            <a:spLocks/>
          </p:cNvSpPr>
          <p:nvPr/>
        </p:nvSpPr>
        <p:spPr>
          <a:xfrm>
            <a:off x="685624" y="4241410"/>
            <a:ext cx="7772757" cy="620423"/>
          </a:xfrm>
          <a:prstGeom prst="rect">
            <a:avLst/>
          </a:prstGeom>
          <a:solidFill>
            <a:srgbClr val="FFFFFF">
              <a:alpha val="74118"/>
            </a:srgbClr>
          </a:solidFill>
        </p:spPr>
        <p:txBody>
          <a:bodyPr vert="horz" lIns="68562" tIns="34281" rIns="68562" bIns="34281" rtlCol="0">
            <a:no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959791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686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This module covers the following topics: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1261872"/>
            <a:ext cx="8503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Recurrent Neural Networks (RNNs)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Motivation, architecture and the forward/backward pass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Long Short-Term Memory (LSTM)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Gates, cell state and how LSTMs solve the vanishing gradient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Applications in Sequential Data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Time-series prediction and basic NLP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Sentiment Analysis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Performing sentiment analysis using RNNs / LSTMs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Advantages, Challenges and Comparisons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Covenant University  |  CEN524: Deep Neural Networks  |  Week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773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Motivation for Recurrent Neural Networks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68680"/>
            <a:ext cx="85039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DNNs and CNNs treat each input as independent — no memory of past inputs.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Many real-world tasks are inherently sequential: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Language: the word "bank" depends on surrounding words for meaning.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Speech: a phoneme depends on what came before and after.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Time-series: tomorrow's temperature depends on a sequence of past readings.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Video: a frame only makes sense in the context of prior frames.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The core question: how do we build a network with memory?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Answer: Recurrent Neural Networks (RNNs) — networks whose connections form directed cycles, allowing information to persist across time steps.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0" y="4773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Recurrent Neural Network —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41248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Key Idea: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At each time step t, the network receives:</a:t>
            </a:r>
            <a:endParaRPr lang="en-US" sz="1500" dirty="0"/>
          </a:p>
          <a:p>
            <a:pPr marL="1028700" lvl="2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9B2335"/>
                </a:solidFill>
              </a:rPr>
              <a:t>Current input xₜ</a:t>
            </a:r>
            <a:endParaRPr lang="en-US" sz="1500" dirty="0"/>
          </a:p>
          <a:p>
            <a:pPr marL="1028700" lvl="2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9B2335"/>
                </a:solidFill>
              </a:rPr>
              <a:t>Hidden state from previous step hₜ₋₁  (the "memory")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And produces:</a:t>
            </a:r>
            <a:endParaRPr lang="en-US" sz="1500" dirty="0"/>
          </a:p>
          <a:p>
            <a:pPr marL="1028700" lvl="2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9B2335"/>
                </a:solidFill>
              </a:rPr>
              <a:t>New hidden state:  hₜ = tanh(Wₓxₜ + Wₕhₜ₋₁ + b)</a:t>
            </a:r>
            <a:endParaRPr lang="en-US" sz="1500" dirty="0"/>
          </a:p>
          <a:p>
            <a:pPr marL="1028700" lvl="2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9B2335"/>
                </a:solidFill>
              </a:rPr>
              <a:t>Output:              yₜ = Wᵧhₜ + bᵧ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Parameters: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Wₓ — input-to-hidden weight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Wₕ — hidden-to-hidden weight (shared across all time steps)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Wᵧ — hidden-to-output weight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00000"/>
                </a:solidFill>
              </a:rPr>
              <a:t>Weight sharing across time steps = parameter efficiency.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0" y="3931920"/>
            <a:ext cx="731520" cy="411480"/>
          </a:xfrm>
          <a:prstGeom prst="rect">
            <a:avLst/>
          </a:prstGeom>
          <a:solidFill>
            <a:srgbClr val="E0E8FF"/>
          </a:solidFill>
          <a:ln w="12700">
            <a:solidFill>
              <a:srgbClr val="444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0" y="39319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88"/>
                </a:solidFill>
              </a:rPr>
              <a:t>x₀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52160" y="3931920"/>
            <a:ext cx="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92240" y="3931920"/>
            <a:ext cx="731520" cy="411480"/>
          </a:xfrm>
          <a:prstGeom prst="rect">
            <a:avLst/>
          </a:prstGeom>
          <a:solidFill>
            <a:srgbClr val="E0E8FF"/>
          </a:solidFill>
          <a:ln w="12700">
            <a:solidFill>
              <a:srgbClr val="444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39319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88"/>
                </a:solidFill>
              </a:rPr>
              <a:t>x₁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3931920"/>
            <a:ext cx="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3931920"/>
            <a:ext cx="731520" cy="411480"/>
          </a:xfrm>
          <a:prstGeom prst="rect">
            <a:avLst/>
          </a:prstGeom>
          <a:solidFill>
            <a:srgbClr val="E0E8FF"/>
          </a:solidFill>
          <a:ln w="12700">
            <a:solidFill>
              <a:srgbClr val="444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39319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2288"/>
                </a:solidFill>
              </a:rPr>
              <a:t>x₂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3931920"/>
            <a:ext cx="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4960" y="3108960"/>
            <a:ext cx="914400" cy="548640"/>
          </a:xfrm>
          <a:prstGeom prst="rect">
            <a:avLst/>
          </a:prstGeom>
          <a:solidFill>
            <a:srgbClr val="FDE8D8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31089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RNN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383280"/>
            <a:ext cx="2743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3108960"/>
            <a:ext cx="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3108960"/>
            <a:ext cx="914400" cy="548640"/>
          </a:xfrm>
          <a:prstGeom prst="rect">
            <a:avLst/>
          </a:prstGeom>
          <a:solidFill>
            <a:srgbClr val="FDE8D8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1089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RNN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0" y="3383280"/>
            <a:ext cx="27432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3108960"/>
            <a:ext cx="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3108960"/>
            <a:ext cx="914400" cy="548640"/>
          </a:xfrm>
          <a:prstGeom prst="rect">
            <a:avLst/>
          </a:prstGeom>
          <a:solidFill>
            <a:srgbClr val="FDE8D8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31089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0000"/>
                </a:solidFill>
              </a:rPr>
              <a:t>RNN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63840" y="3108960"/>
            <a:ext cx="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3101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h₀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0" y="331012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h₁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94960" y="2286000"/>
            <a:ext cx="914400" cy="411480"/>
          </a:xfrm>
          <a:prstGeom prst="rect">
            <a:avLst/>
          </a:prstGeom>
          <a:solidFill>
            <a:srgbClr val="D8F5E8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22860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6B3A"/>
                </a:solidFill>
              </a:rPr>
              <a:t>y₀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2286000"/>
            <a:ext cx="914400" cy="411480"/>
          </a:xfrm>
          <a:prstGeom prst="rect">
            <a:avLst/>
          </a:prstGeom>
          <a:solidFill>
            <a:srgbClr val="D8F5E8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2860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6B3A"/>
                </a:solidFill>
              </a:rPr>
              <a:t>y₁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06640" y="2286000"/>
            <a:ext cx="914400" cy="411480"/>
          </a:xfrm>
          <a:prstGeom prst="rect">
            <a:avLst/>
          </a:prstGeom>
          <a:solidFill>
            <a:srgbClr val="D8F5E8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0" y="22860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6B3A"/>
                </a:solidFill>
              </a:rPr>
              <a:t>y₂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43159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← inputs →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57800" y="19385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← outputs →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Covenant University  |  CEN524: Deep Neural Networks  |  Week 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503920" y="4773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RNN Cell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The RNN cell's entire job is to maintain a running summary — a hidden state — that accumulates context as it reads left to right.</a:t>
            </a:r>
          </a:p>
          <a:p>
            <a:r>
              <a:rPr lang="en-US" b="1" dirty="0"/>
              <a:t>Inside the cell: three things arrive, one thing leaves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At every time step t, the cell receives two inputs and produces one output:</a:t>
            </a:r>
          </a:p>
          <a:p>
            <a:r>
              <a:rPr lang="en-US" dirty="0"/>
              <a:t>xₜ — the current word converted to a vector of numbers (the embedding)</a:t>
            </a:r>
          </a:p>
          <a:p>
            <a:r>
              <a:rPr lang="en-US" dirty="0"/>
              <a:t>hₜ₋₁ — the previous hidden state, a compressed summary of everything seen so far</a:t>
            </a:r>
          </a:p>
          <a:p>
            <a:r>
              <a:rPr lang="en-US" dirty="0"/>
              <a:t>Output: hₜ — a new hidden state that bundles the current word into the accumulated context</a:t>
            </a:r>
          </a:p>
          <a:p>
            <a:r>
              <a:rPr lang="en-US" dirty="0"/>
              <a:t>The formula is: </a:t>
            </a:r>
            <a:r>
              <a:rPr lang="en-US" b="1" dirty="0"/>
              <a:t>hₜ = </a:t>
            </a:r>
            <a:r>
              <a:rPr lang="en-US" b="1" dirty="0" err="1"/>
              <a:t>tanh</a:t>
            </a:r>
            <a:r>
              <a:rPr lang="en-US" b="1" dirty="0"/>
              <a:t>( </a:t>
            </a:r>
            <a:r>
              <a:rPr lang="en-US" b="1" dirty="0" err="1"/>
              <a:t>Wx·x</a:t>
            </a:r>
            <a:r>
              <a:rPr lang="en-US" b="1" dirty="0"/>
              <a:t>ₜ + </a:t>
            </a:r>
            <a:r>
              <a:rPr lang="en-US" b="1" dirty="0" err="1"/>
              <a:t>Wh·h</a:t>
            </a:r>
            <a:r>
              <a:rPr lang="en-US" b="1" dirty="0"/>
              <a:t>ₜ₋₁ + b 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034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RNN Cell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9627" y="1339637"/>
            <a:ext cx="7144747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725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RNNs — Backpropagation Through Time (BPTT)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6868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Forward Pass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Unroll the network across T time steps; compute each hₜ and output yₜ.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Calculate loss at each step (e.g. cross-entropy for classification).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Total loss: L = Σ Lₜ over all T steps.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Backward Pass (BPTT)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Gradients are propagated back through time, step by step.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The shared weight Wₕ accumulates gradients from ALL time steps.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The Problem — Vanishing / Exploding Gradients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Gradients shrink exponentially as they flow back through many time steps → network forgets long-range dependencies (vanishing).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Or they grow exponentially → numerical instability (exploding).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8B0000"/>
                </a:solidFill>
              </a:rPr>
              <a:t>For sequences longer than ~10–20 steps, vanilla RNNs often fail.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Covenant University  |  CEN524: Deep Neural Networks  |  Week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773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Long Short-Term Memory (LSTM)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68680"/>
            <a:ext cx="85039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Introduced by Hochreiter &amp; Schmidhuber (1997) to solve the vanishing gradient problem.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Key Innovation: the Cell State (Cₜ)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 separate "conveyor belt" that runs straight through the sequence with only minor linear interactions — gradients flow with minimal decay.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Information is added to or removed from the cell state via learned gates.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Three Gates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Forget Gate  fₜ — decides what to erase from the cell state.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Input Gate   iₜ — decides what new information to write.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Output Gate  oₜ — decides what to expose as the hidden state hₜ.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B2335"/>
                </a:solidFill>
              </a:rPr>
              <a:t>All gates use sigmoid (output 0–1): 0 = completely blocked, 1 = fully open.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9B2335"/>
                </a:solidFill>
              </a:rPr>
              <a:t>Each gate has its own learned weight matrices.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Covenant University  |  CEN524: Deep Neural Networks  |  Week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773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LSTM — Gate Equations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4297680" cy="3794760"/>
          </a:xfrm>
          <a:prstGeom prst="rect">
            <a:avLst/>
          </a:prstGeom>
          <a:solidFill>
            <a:srgbClr val="FDF3F3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961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0000"/>
                </a:solidFill>
              </a:rPr>
              <a:t>Gate Computations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0000"/>
                </a:solidFill>
              </a:rPr>
              <a:t>Forget Gate: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29844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fₜ = σ(Wf·[hₜ₋₁, xₜ] + bf)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1051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0000"/>
                </a:solidFill>
              </a:rPr>
              <a:t>Input Gate: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81051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iₜ = σ(Wi·[hₜ₋₁, xₜ] + bi)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32257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0000"/>
                </a:solidFill>
              </a:rPr>
              <a:t>Candidate: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322576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C̃ₜ = tanh(Wc·[hₜ₋₁, xₜ] + bc)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834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0000"/>
                </a:solidFill>
              </a:rPr>
              <a:t>Cell Update: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83464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Cₜ = fₜ ⊙ Cₜ₋₁ + iₜ ⊙ C̃ₜ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34670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0000"/>
                </a:solidFill>
              </a:rPr>
              <a:t>Output Gate: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334670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oₜ = σ(Wo·[hₜ₋₁, xₜ] + bo)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85876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0000"/>
                </a:solidFill>
              </a:rPr>
              <a:t>Hidden State: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38587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hₜ = oₜ ⊙ tanh(Cₜ)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868680"/>
            <a:ext cx="4069080" cy="3794760"/>
          </a:xfrm>
          <a:prstGeom prst="rect">
            <a:avLst/>
          </a:prstGeom>
          <a:solidFill>
            <a:srgbClr val="F3F3FD"/>
          </a:solidFill>
          <a:ln w="12700">
            <a:solidFill>
              <a:srgbClr val="444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8961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1F6B"/>
                </a:solidFill>
              </a:rPr>
              <a:t>What Each Gate Does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12984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1F6B"/>
                </a:solidFill>
              </a:rPr>
              <a:t>Forget fₜ: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129844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Multiplies old cell state — values near 0 erase memories, near 1 keep them.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1214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1F6B"/>
                </a:solidFill>
              </a:rPr>
              <a:t>Input iₜ + C̃ₜ: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12140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Controls how much of the new candidate value gets written into the cell.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9443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1F6B"/>
                </a:solidFill>
              </a:rPr>
              <a:t>Cell Cₜ: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94436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The actual long-term memory. Gradient flows cleanly through this path.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7673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1F6B"/>
                </a:solidFill>
              </a:rPr>
              <a:t>Output oₜ: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76732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Filters the cell state to produce the hidden state passed to the next layer.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Covenant University  |  CEN524: Deep Neural Networks  |  Week 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03920" y="4773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RNN vs LSTM — Key Differences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8503920" cy="315468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474720"/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Vanilla RNN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LSTM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Memory mechanism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Single hidden state hₜ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Hidden state hₜ + cell state Cₜ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Long-range deps.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Poor (vanishing gradient)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Excellent (cell state preserves gradient)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Gates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Forget, Input, Output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Parameters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Fewer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~4× more than RNN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Training stability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Often unstable on long seqs.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Stable on sequences of 100s–1000s steps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Best for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Very short sequences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Language, speech, time-series, NLP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Covenant University  |  CEN524: Deep Neural Networks  |  Week 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03920" y="4773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 1 — Time-Series Prediction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6868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Definition: Predicting a future value based on a sequence of past observations.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Why RNN/LSTM?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Past values are correlated — the order matters. LSTMs capture this naturally.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Common Use Cases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Stock price and financial market forecasting.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Weather and climate prediction.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Energy demand and power grid management.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Predictive maintenance (sensor data from machines).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ECG / EEG signal analysis in healthcare.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General Approach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Create input windows of T past values → predict the next value (or next T values).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Use MSE / MAE as the loss function; Adam optimizer typically works well.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Normalise the input sequence to zero mean and unit variance before training.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Covenant University  |  CEN524: Deep Neural Networks  |  Week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773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Time-Series with LSTM — Code Sketch (Python / Keras)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8595360" cy="384048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32688"/>
            <a:ext cx="8321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1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 as np
</a:t>
            </a: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1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tensorflow.keras.models </a:t>
            </a: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1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Sequential
</a:t>
            </a: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1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tensorflow.keras.layers </a:t>
            </a: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1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LSTM, Dense
</a:t>
            </a: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LSTM model
</a:t>
            </a:r>
            <a:r>
              <a:rPr lang="en-US" sz="11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Sequential([
    LSTM(</a:t>
            </a: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r>
              <a:rPr lang="en-US" sz="11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return_sequences=</a:t>
            </a: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1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input_shape=(T, features)),
    LSTM(</a:t>
            </a: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r>
              <a:rPr lang="en-US" sz="11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# single output: next value
])
model.compile(optimizer=</a:t>
            </a: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'adam'</a:t>
            </a:r>
            <a:r>
              <a:rPr lang="en-US" sz="11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loss=</a:t>
            </a: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'mse'</a:t>
            </a:r>
            <a:r>
              <a:rPr lang="en-US" sz="11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model.fit(X_train, y_train, epochs=</a:t>
            </a: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1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batch_size=</a:t>
            </a: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r>
              <a:rPr lang="en-US" sz="110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X_train shape: (samples, T, features)
# y_train shape: (samples, 1)
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Covenant University  |  CEN524: Deep Neural Networks  |  Week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773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 2 — Basic Natural Language Processing (NLP)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6868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Language is the most natural form of sequential data: tokens follow each other in context.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Representing Text for RNNs / LSTMs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Tokenisation: split text into words or sub-words.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Vocabulary: map each token to an integer ID.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Embeddings: map each ID to a dense vector (e.g. Word2Vec, GloVe, or a learned Embedding layer).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The embedding sequence is fed step-by-step into the RNN / LSTM.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Key NLP Tasks handled by RNNs / LSTMs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Sentiment analysis — classify reviews as positive / negative.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Text classification — spam detection, topic labelling.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Language modelling — predict the next word (foundation of GPT etc.).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Machine translation — encoder–decoder LSTM (seq2seq).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Named entity recognition (NER).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0000"/>
                </a:solidFill>
              </a:rPr>
              <a:t>Note: Transformers (BERT, GPT) have largely replaced RNNs for large-scale NLP, but LSTMs remain relevant for edge devices and time-constrained tasks.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Covenant University  |  CEN524: Deep Neural Networks  |  Week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773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Sentiment Analysis — Theory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6868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Definition: Automatically classify text into a sentiment category (positive / negative / neutral).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Pipeline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1.  Tokenise and clean text (lowercase, remove punctuation).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2.  Pad or truncate sequences to a fixed length L.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3.  Map tokens to integer IDs using a vocabulary.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4.  Embedding layer: integer IDs → dense vectors (e.g. 128-dim).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5.  LSTM layer(s): process the sequence, produce final hidden state.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6.  Dense + Sigmoid: output probability p ∈ [0,1] (p &gt; 0.5 → positive).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00000"/>
                </a:solidFill>
              </a:rPr>
              <a:t>Loss &amp; Optimiser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Binary Cross-Entropy: Loss = −[y log(p) + (1−y) log(1−p)]</a:t>
            </a:r>
            <a:endParaRPr lang="en-US" sz="14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Optimiser: Adam  |  Regularisation: Dropout (0.2–0.5) in the LSTM.</a:t>
            </a:r>
            <a:endParaRPr lang="en-US" sz="14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00000"/>
                </a:solidFill>
              </a:rPr>
              <a:t>Dataset: IMDb Movie Reviews (50,000 labelled reviews) is the standard benchmark.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Covenant University  |  CEN524: Deep Neural Networks  |  Week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773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Sentiment Analysis — Implementation (Part 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8595360" cy="384048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32688"/>
            <a:ext cx="8321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tensorflow as tf
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tensorflow.keras.datasets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imdb
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tensorflow.keras.preprocessing.sequence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pad_sequences
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IMDb — keep top 10 000 words
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VOCAB_SIZE, MAX_LEN =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
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(X_train, y_train), (X_test, y_test) = imdb.load_data(num_words=VOCAB_SIZE)
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Pad sequences to the same length
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 = pad_sequences(X_train, maxlen=MAX_LEN, padding=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'post'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X_test  = pad_sequences(X_test,  maxlen=MAX_LEN, padding=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'post'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r>
              <a:rPr lang="en-US" sz="1050" dirty="0">
                <a:solidFill>
                  <a:srgbClr val="DCD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"Train: {X_train.shape}, Test: {X_test.shape}"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Train: (25000, 200), Test: (25000, 200)
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Covenant University  |  CEN524: Deep Neural Networks  |  Week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773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Sentiment Analysis — Implementation (Part 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8595360" cy="384048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32688"/>
            <a:ext cx="8321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tensorflow.keras.models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Sequential
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tensorflow.keras.layers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Embedding, LSTM, Dense, Dropout
model = Sequential([
    Embedding(VOCAB_SIZE,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input_length=MAX_LEN),
    LSTM(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dropout=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recurrent_dropout=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
    Dense(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activation=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'sigmoid'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# binary output
])
model.compile(optimizer=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'adam'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loss=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'binary_crossentropy'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metrics=[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'accuracy'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
history = model.fit(X_train, y_train, epochs=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batch_size=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validation_split=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Covenant University  |  CEN524: Deep Neural Networks  |  Week 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503920" y="4773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Sentiment Analysis — Evaluation and Inference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8595360" cy="28346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32688"/>
            <a:ext cx="8321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Evaluate on test set
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loss, acc = model.evaluate(X_test, y_test)
</a:t>
            </a:r>
            <a:r>
              <a:rPr lang="en-US" sz="1050" dirty="0">
                <a:solidFill>
                  <a:srgbClr val="DCD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 accuracy: {acc:.4f}"</a:t>
            </a: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# typical: ~87–89 %
# Inference on a new review
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word_index = imdb.get_word_index()
</a:t>
            </a:r>
            <a:r>
              <a:rPr lang="en-US" sz="1050" dirty="0">
                <a:solidFill>
                  <a:srgbClr val="DCD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predict_sentiment(review_text):
    tokens = [word_index.get(w,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for w in review_text.lower().split()]
    seq = pad_sequences([tokens], maxlen=MAX_LEN, padding=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'post'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    p = model.predict(seq)[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][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DCDC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
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"Positive" if p &gt; 0.5 else "Negative", p
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3749040"/>
            <a:ext cx="8595360" cy="914400"/>
          </a:xfrm>
          <a:prstGeom prst="rect">
            <a:avLst/>
          </a:prstGeom>
          <a:solidFill>
            <a:srgbClr val="EAF5EA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767328"/>
            <a:ext cx="84124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6B3A"/>
                </a:solidFill>
              </a:rPr>
              <a:t>Expected outputs:
</a:t>
            </a: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predict_sentiment("This movie was absolutely brilliant!") → ('Positive', 0.94)
predict_sentiment("Dull, slow and utterly disappointing.")  → ('Negative', 0.08)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Covenant University  |  CEN524: Deep Neural Networks  |  Week 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0" y="4773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Variants of RNNs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6868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Bidirectional RNN / LSTM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Processes the sequence in both forward and backward directions simultaneously.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Doubles the hidden state size; the two hidden vectors are concatenated.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Critical for tasks where both past and future context matter (e.g. NER, POS tagging).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Stacked (Deep) LSTMs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Multiple LSTM layers stacked vertically — each layer processes the output sequence of the layer below.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Increases representational capacity; use with residual connections to train stably.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Gated Recurrent Unit (GRU)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Simplified variant: merges forget and input gates into a single Update Gate.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Also has a Reset Gate. Fewer parameters than LSTM — often comparable performance.</a:t>
            </a:r>
            <a:endParaRPr lang="en-US" sz="1500" dirty="0"/>
          </a:p>
          <a:p>
            <a:pPr marL="1028700" lvl="2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9B2335"/>
                </a:solidFill>
              </a:rPr>
              <a:t>Equations: zₜ = σ(Wz·[hₜ₋₁, xₜ]);  rₜ = σ(Wr·[hₜ₋₁, xₜ])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Encoder–Decoder (Seq2Seq)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Encoder LSTM reads the entire input and compresses it to a context vector.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Decoder LSTM generates the output sequence from that context vector.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Foundation for neural machine translation, summarisation, and chatbots.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Covenant University  |  CEN524: Deep Neural Networks  |  Week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773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Advantages and Challenges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68680"/>
            <a:ext cx="4160520" cy="3520440"/>
          </a:xfrm>
          <a:prstGeom prst="rect">
            <a:avLst/>
          </a:prstGeom>
          <a:solidFill>
            <a:srgbClr val="F0FAF2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9611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6B3A"/>
                </a:solidFill>
              </a:rPr>
              <a:t>✓  Advantages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39776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Natural fit for sequential and time-ordered data.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LSTMs capture long-range dependencies effectively.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Weight sharing across time steps reduces parameters.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Flexible input and output lengths (many-to-one, one-to-many, many-to-many).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Bidirectional variants use full context from both directions.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GRUs offer a lighter alternative with comparable accuracy.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160520" cy="3520440"/>
          </a:xfrm>
          <a:prstGeom prst="rect">
            <a:avLst/>
          </a:prstGeom>
          <a:solidFill>
            <a:srgbClr val="FDF3F3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89611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0000"/>
                </a:solidFill>
              </a:rPr>
              <a:t>✗  Challenges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298448"/>
            <a:ext cx="397764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Sequential computation — cannot be fully parallelised like CNNs.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Slower to train on very long sequences.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Vanilla RNNs still suffer from vanishing gradients.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LSTMs have ~4× parameters of a plain RNN — more memory.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Transformers have outperformed LSTMs on most NLP benchmarks.</a:t>
            </a:r>
            <a:endParaRPr lang="en-US" sz="13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Interpretability: the cell state is opaque — hard to explain decisions.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Covenant University  |  CEN524: Deep Neural Networks  |  Week 9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503920" y="4773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Applications of RNNs and LSTMs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4251960" cy="1143000"/>
          </a:xfrm>
          <a:prstGeom prst="rect">
            <a:avLst/>
          </a:prstGeom>
          <a:solidFill>
            <a:srgbClr val="EEF3FD"/>
          </a:solidFill>
          <a:ln w="12700">
            <a:solidFill>
              <a:srgbClr val="444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0000"/>
                </a:solidFill>
              </a:rPr>
              <a:t>Natural Language Processing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Sentiment analysis, text classification, machine translation, named entity recognition, language modelling.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4251960" cy="1143000"/>
          </a:xfrm>
          <a:prstGeom prst="rect">
            <a:avLst/>
          </a:prstGeom>
          <a:solidFill>
            <a:srgbClr val="EEF3FD"/>
          </a:solidFill>
          <a:ln w="12700">
            <a:solidFill>
              <a:srgbClr val="444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96012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0000"/>
                </a:solidFill>
              </a:rPr>
              <a:t>Speech Recognition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280160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Convert audio waveforms to phonemes and words; used in virtual assistants (Siri, Google Assistant).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251960" cy="1143000"/>
          </a:xfrm>
          <a:prstGeom prst="rect">
            <a:avLst/>
          </a:prstGeom>
          <a:solidFill>
            <a:srgbClr val="FDF3F3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4028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0000"/>
                </a:solidFill>
              </a:rPr>
              <a:t>Time-Series Forecasting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560320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Stock markets, electricity demand, weather prediction, server load forecasting.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2194560"/>
            <a:ext cx="4251960" cy="1143000"/>
          </a:xfrm>
          <a:prstGeom prst="rect">
            <a:avLst/>
          </a:prstGeom>
          <a:solidFill>
            <a:srgbClr val="FDF3F3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24028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0000"/>
                </a:solidFill>
              </a:rPr>
              <a:t>Music and Audio Generation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560320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Compose melodies and generate drum patterns by learning from symbolic MIDI sequences.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4251960" cy="1143000"/>
          </a:xfrm>
          <a:prstGeom prst="rect">
            <a:avLst/>
          </a:prstGeom>
          <a:solidFill>
            <a:srgbClr val="F0FAF2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204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0000"/>
                </a:solidFill>
              </a:rPr>
              <a:t>Healthcare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840480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ECG arrhythmia detection, ICU patient vital-sign monitoring, drug interaction prediction.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474720"/>
            <a:ext cx="4251960" cy="1143000"/>
          </a:xfrm>
          <a:prstGeom prst="rect">
            <a:avLst/>
          </a:prstGeom>
          <a:solidFill>
            <a:srgbClr val="F0FAF2"/>
          </a:solidFill>
          <a:ln w="12700">
            <a:solidFill>
              <a:srgbClr val="1F6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5204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0000"/>
                </a:solidFill>
              </a:rPr>
              <a:t>Robotics &amp; Autonomous Systems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840480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</a:rPr>
              <a:t>Action prediction from sensor streams; trajectory planning from historical movement data.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Covenant University  |  CEN524: Deep Neural Networks  |  Week 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773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RNN/LSTM vs Transformers — Where They Stand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749040"/>
        </p:xfrm>
        <a:graphic>
          <a:graphicData uri="http://schemas.openxmlformats.org/drawingml/2006/table">
            <a:tbl>
              <a:tblPr/>
              <a:tblGrid>
                <a:gridCol w="2286000"/>
                <a:gridCol w="2834640"/>
                <a:gridCol w="3474720"/>
              </a:tblGrid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LSTM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Transformer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0000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Parallelisation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Sequential only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Fully parallel over sequence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Long-range deps.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Good (LSTM gates)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Excellent (self-attention)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Memory usage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Low – O(1) per step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High – O(n²) for attention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Training speed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Slower on long seqs.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Much faster on modern GPUs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Best seq. length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Up to ~1000 tokens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Thousands of tokens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Interpretability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Gate analysis possible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Attention maps available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Edge deployment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Lightweight, preferred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Often too large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When to use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IoT/embedded, short seqs.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BERT, GPT, large-scale NLP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Covenant University  |  CEN524: Deep Neural Networks  |  Week 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03920" y="4773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6868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Recurrent Neural Networks (RNNs)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Extend DNNs to sequential data by maintaining a hidden state that passes information across time steps.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Long Short-Term Memory (LSTM)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Solve the vanishing gradient problem via a cell state and three learnable gates (Forget, Input, Output).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Applications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Time-series prediction, sentiment analysis, machine translation, speech recognition and many more sequential tasks.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Sentiment Analysis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Embedding → LSTM → Sigmoid is a simple yet effective pipeline achieving ~88% accuracy on IMDb reviews.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Modern Context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Transformers dominate large-scale NLP, but LSTMs remain the architecture of choice for edge/embedded and low-latency applications.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Covenant University  |  CEN524: Deep Neural Networks  |  Week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773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6868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Build a Vanilla RNN using Keras for a toy sequence task (e.g. counting parentheses).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Observe how performance degrades with sequence length due to vanishing gradients.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Implement an LSTM for Time-Series Forecasting.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Use a real-world dataset (e.g. airline passenger counts or stock prices).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Plot predicted vs. actual values; compute RMSE and MAE.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Build a Sentiment Classifier on the IMDb Dataset.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Complete the Embedding → LSTM → Dense pipeline shown in the lecture.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Experiment with dropout rate and number of LSTM units.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Extend to a Bidirectional LSTM — compare accuracy with the unidirectional model.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</a:rPr>
              <a:t>Evaluate and Compare.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Plot training vs. validation loss curves; diagnose overfitting and underfitting.</a:t>
            </a:r>
            <a:endParaRPr lang="en-US" sz="1500" dirty="0"/>
          </a:p>
          <a:p>
            <a:pPr marL="685800" lvl="1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8B0000"/>
                </a:solidFill>
              </a:rPr>
              <a:t>Report accuracy, precision, recall and F1-score on the test set.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Covenant University  |  CEN524: Deep Neural Networks  |  Week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773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Teaser Questions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6868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Why can a vanilla RNN not remember information from 50 time steps ago, even though the recurrent weight Wₕ is never zero?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In an LSTM, the forget gate outputs all 1s across every time step during the first epoch of training. What does this mean for the cell state, and is this a problem?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You are building a system to detect anomalies in a server's CPU usage over time. Would you choose a many-to-one or many-to-many RNN architecture? Justify your choice.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</a:rPr>
              <a:t>A bidirectional LSTM achieves 90% accuracy on a sentiment task but is too slow for a mobile app. What architectural changes could you make to reduce latency without a large accuracy drop?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Covenant University  |  CEN524: Deep Neural Networks  |  Week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773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8503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68680"/>
            <a:ext cx="8503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Hochreiter, S. &amp; Schmidhuber, J. (1997). Long Short-Term Memory. Neural Computation, 9(8), 1735–1780.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Goodfellow, I., Bengio, Y. &amp; Courville, A. (2016). Deep Learning. MIT Press. Chapters 10–11.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Cho, K. et al. (2014). Learning Phrase Representations using RNN Encoder–Decoder. EMNLP 2014. (GRU paper)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Sutskever, I., Vinyals, O. &amp; Le, Q. (2014). Sequence to Sequence Learning with Neural Networks. NeurIPS 2014.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Maas, A. et al. (2011). Learning Word Vectors for Sentiment Analysis. ACL 2011. (IMDb dataset)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TensorFlow / Keras Documentation — keras.io/api/layers/recurrent_layers/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PyTorch Documentation — pytorch.org/docs/stable/generated/torch.nn.LSTM.html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Olah, C. (2015). Understanding LSTM Networks — colah.github.io/posts/2015-08-Understanding-LSTMs/ (highly recommended primer)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Covenant University  |  CEN524: Deep Neural Networks  |  Week 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77316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</TotalTime>
  <Words>2776</Words>
  <Application>Microsoft Office PowerPoint</Application>
  <PresentationFormat>On-screen Show (16:9)</PresentationFormat>
  <Paragraphs>363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Arial</vt:lpstr>
      <vt:lpstr>Arial Black</vt:lpstr>
      <vt:lpstr>Calibri</vt:lpstr>
      <vt:lpstr>Courier New</vt:lpstr>
      <vt:lpstr>Georgia</vt:lpstr>
      <vt:lpstr>Rockwell</vt:lpstr>
      <vt:lpstr>Rockwell Condensed</vt:lpstr>
      <vt:lpstr>Times New Roman</vt:lpstr>
      <vt:lpstr>Wingdings</vt:lpstr>
      <vt:lpstr>Office Theme</vt:lpstr>
      <vt:lpstr>1_Office Theme</vt:lpstr>
      <vt:lpstr>CEN524: RECURRENT NEURAL NETWORKS &amp; LSTMS  </vt:lpstr>
      <vt:lpstr>PowerPoint Presentation</vt:lpstr>
      <vt:lpstr>PowerPoint Presentation</vt:lpstr>
      <vt:lpstr>PowerPoint Presentation</vt:lpstr>
      <vt:lpstr>RNN Cell</vt:lpstr>
      <vt:lpstr>The RNN 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CEN524 Week 9 – RNNs and LSTMs</dc:title>
  <dc:subject>PptxGenJS Presentation</dc:subject>
  <dc:creator>PptxGenJS</dc:creator>
  <cp:lastModifiedBy>User</cp:lastModifiedBy>
  <cp:revision>7</cp:revision>
  <dcterms:created xsi:type="dcterms:W3CDTF">2026-05-25T10:09:28Z</dcterms:created>
  <dcterms:modified xsi:type="dcterms:W3CDTF">2026-05-25T15:21:33Z</dcterms:modified>
</cp:coreProperties>
</file>